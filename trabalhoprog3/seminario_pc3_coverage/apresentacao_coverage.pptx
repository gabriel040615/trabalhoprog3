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21792"/>
            <a:ext cx="1188720" cy="109728"/>
          </a:xfrm>
          <a:prstGeom prst="rect">
            <a:avLst/>
          </a:prstGeom>
          <a:solidFill>
            <a:srgbClr val="35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64008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1">
                <a:solidFill>
                  <a:srgbClr val="35CDDE"/>
                </a:solidFill>
                <a:latin typeface="Aptos"/>
              </a:rPr>
              <a:t>PROGRAMAÇÃO DE COMPUTADORES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6949440" cy="15087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Métricas e
Cobertura de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54680"/>
            <a:ext cx="6035040" cy="7315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700" b="0">
                <a:solidFill>
                  <a:srgbClr val="C6D7EB"/>
                </a:solidFill>
                <a:latin typeface="Aptos"/>
              </a:rPr>
              <a:t>Como medir a abrangência dos testes —
e por que 100% não significa software sem bugs.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097280"/>
            <a:ext cx="3337560" cy="4160520"/>
          </a:xfrm>
          <a:prstGeom prst="round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572768"/>
            <a:ext cx="2606040" cy="7315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2500" b="1">
                <a:solidFill>
                  <a:srgbClr val="F8FAFC"/>
                </a:solidFill>
                <a:latin typeface="Consolas"/>
              </a:rPr>
              <a:t>coverage
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788920"/>
            <a:ext cx="2651760" cy="7315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>
                <a:solidFill>
                  <a:srgbClr val="35CDDE"/>
                </a:solidFill>
                <a:latin typeface="Consolas"/>
              </a:rPr>
              <a:t>Stmts   Miss  Branch  BrPart  Cover
    8      0      6       0  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3950208"/>
            <a:ext cx="2240280" cy="50292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4023360"/>
            <a:ext cx="2057400" cy="2011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000" b="1">
                <a:solidFill>
                  <a:srgbClr val="0C192E"/>
                </a:solidFill>
                <a:latin typeface="Aptos"/>
              </a:rPr>
              <a:t>TESTES EXECUTADOS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623560"/>
            <a:ext cx="5669280" cy="594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Gabriel Martins Nunes
Rafaela Garcia Bernardes
G08PCOM3.01 · T01 · 2026.2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2374CC"/>
                </a:solidFill>
                <a:latin typeface="Aptos"/>
              </a:rPr>
              <a:t>PERGUNTA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46888"/>
            <a:ext cx="54864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100" b="1">
                <a:solidFill>
                  <a:srgbClr val="5A6C82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900" b="0">
                <a:solidFill>
                  <a:srgbClr val="5A6C82"/>
                </a:solidFill>
                <a:latin typeface="Aptos"/>
              </a:rPr>
              <a:t>PC III · Tema 8 · Gabriel Martins Nunes &amp; Rafaela Garcia Bernardes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900" b="1">
                <a:solidFill>
                  <a:srgbClr val="0C192E"/>
                </a:solidFill>
                <a:latin typeface="Aptos"/>
              </a:rPr>
              <a:t>Teste verde é suficiente?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80160"/>
            <a:ext cx="10789920" cy="32918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5A6C82"/>
                </a:solidFill>
                <a:latin typeface="Aptos"/>
              </a:rPr>
              <a:t>O ponto de partida da nossa investigação.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212080" cy="356616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12848"/>
            <a:ext cx="4206240" cy="43891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700" b="1">
                <a:solidFill>
                  <a:srgbClr val="38D39F"/>
                </a:solidFill>
                <a:latin typeface="Aptos"/>
              </a:rPr>
              <a:t>✓  1 teste passou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63240"/>
            <a:ext cx="4389120" cy="7315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200" b="1">
                <a:solidFill>
                  <a:srgbClr val="0C192E"/>
                </a:solidFill>
                <a:latin typeface="Aptos"/>
              </a:rPr>
              <a:t>Podemos concluir que as regras
da aplicação estão bem testadas?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874519"/>
            <a:ext cx="5074920" cy="3566160"/>
          </a:xfrm>
          <a:prstGeom prst="roundRect">
            <a:avLst/>
          </a:prstGeom>
          <a:solidFill>
            <a:srgbClr val="0C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240280"/>
            <a:ext cx="4160520" cy="43891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Não necessariamente.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063240"/>
            <a:ext cx="3931920" cy="10972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900" b="0">
                <a:solidFill>
                  <a:srgbClr val="D2E1F1"/>
                </a:solidFill>
                <a:latin typeface="Aptos"/>
              </a:rPr>
              <a:t>O teste pode percorrer apenas
um caminho e ignorar decisões,
erros e valores-limite.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645152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1">
                <a:solidFill>
                  <a:srgbClr val="35CDDE"/>
                </a:solidFill>
                <a:latin typeface="Aptos"/>
              </a:rPr>
              <a:t>Coverage torna essas lacunas visíveis.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2374CC"/>
                </a:solidFill>
                <a:latin typeface="Aptos"/>
              </a:rPr>
              <a:t>CONCEITO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46888"/>
            <a:ext cx="54864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100" b="1">
                <a:solidFill>
                  <a:srgbClr val="5A6C82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900" b="0">
                <a:solidFill>
                  <a:srgbClr val="5A6C82"/>
                </a:solidFill>
                <a:latin typeface="Aptos"/>
              </a:rPr>
              <a:t>PC III · Tema 8 · Gabriel Martins Nunes &amp; Rafaela Garcia Bernardes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900" b="1">
                <a:solidFill>
                  <a:srgbClr val="0C192E"/>
                </a:solidFill>
                <a:latin typeface="Aptos"/>
              </a:rPr>
              <a:t>O que é Code Coverage?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80160"/>
            <a:ext cx="10789920" cy="32918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5A6C82"/>
                </a:solidFill>
                <a:latin typeface="Aptos"/>
              </a:rPr>
              <a:t>Métrica de execução, não selo de qualidade.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3017520" cy="260604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267712"/>
            <a:ext cx="502920" cy="502920"/>
          </a:xfrm>
          <a:prstGeom prst="roundRect">
            <a:avLst/>
          </a:prstGeom>
          <a:solidFill>
            <a:srgbClr val="237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240280"/>
            <a:ext cx="1874519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>
                <a:solidFill>
                  <a:srgbClr val="0C192E"/>
                </a:solidFill>
                <a:latin typeface="Aptos"/>
              </a:rPr>
              <a:t>MEDIR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063240"/>
            <a:ext cx="242316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>
                <a:solidFill>
                  <a:srgbClr val="182334"/>
                </a:solidFill>
                <a:latin typeface="Aptos"/>
              </a:rPr>
              <a:t>Quais partes do código foram executadas pelos testes.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011680"/>
            <a:ext cx="3017520" cy="260604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267712"/>
            <a:ext cx="502920" cy="502920"/>
          </a:xfrm>
          <a:prstGeom prst="roundRect">
            <a:avLst/>
          </a:prstGeom>
          <a:solidFill>
            <a:srgbClr val="35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1874519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>
                <a:solidFill>
                  <a:srgbClr val="0C192E"/>
                </a:solidFill>
                <a:latin typeface="Aptos"/>
              </a:rPr>
              <a:t>LOCALIZAR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3063240"/>
            <a:ext cx="242316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>
                <a:solidFill>
                  <a:srgbClr val="182334"/>
                </a:solidFill>
                <a:latin typeface="Aptos"/>
              </a:rPr>
              <a:t>Onde existem linhas ou caminhos ainda não exercitados.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011680"/>
            <a:ext cx="3017520" cy="260604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09560" y="2267712"/>
            <a:ext cx="502920" cy="50292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240280"/>
            <a:ext cx="1874519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>
                <a:solidFill>
                  <a:srgbClr val="0C192E"/>
                </a:solidFill>
                <a:latin typeface="Aptos"/>
              </a:rPr>
              <a:t>ORIENTAR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3063240"/>
            <a:ext cx="242316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>
                <a:solidFill>
                  <a:srgbClr val="182334"/>
                </a:solidFill>
                <a:latin typeface="Aptos"/>
              </a:rPr>
              <a:t>Quais cenários devem ser acrescentados à suíte.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700" b="1">
                <a:solidFill>
                  <a:srgbClr val="0C192E"/>
                </a:solidFill>
                <a:latin typeface="Aptos"/>
              </a:rPr>
              <a:t>Coverage responde “quanto foi executado?”. Bons testes respondem “o comportamento correto foi verificado?”.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2374CC"/>
                </a:solidFill>
                <a:latin typeface="Aptos"/>
              </a:rPr>
              <a:t>FERRAMENTAS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46888"/>
            <a:ext cx="54864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100" b="1">
                <a:solidFill>
                  <a:srgbClr val="5A6C82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900" b="0">
                <a:solidFill>
                  <a:srgbClr val="5A6C82"/>
                </a:solidFill>
                <a:latin typeface="Aptos"/>
              </a:rPr>
              <a:t>PC III · Tema 8 · Gabriel Martins Nunes &amp; Rafaela Garcia Bernardes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900" b="1">
                <a:solidFill>
                  <a:srgbClr val="0C192E"/>
                </a:solidFill>
                <a:latin typeface="Aptos"/>
              </a:rPr>
              <a:t>pytest + coverage.py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80160"/>
            <a:ext cx="10789920" cy="32918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5A6C82"/>
                </a:solidFill>
                <a:latin typeface="Aptos"/>
              </a:rPr>
              <a:t>Ferramentas complementares, com responsabilidades diferentes.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257800" cy="3246120"/>
          </a:xfrm>
          <a:prstGeom prst="roundRect">
            <a:avLst/>
          </a:prstGeom>
          <a:solidFill>
            <a:srgbClr val="ED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221992"/>
            <a:ext cx="1828800" cy="4114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900" b="1">
                <a:solidFill>
                  <a:srgbClr val="2374CC"/>
                </a:solidFill>
                <a:latin typeface="Aptos"/>
              </a:rPr>
              <a:t>pytest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07792"/>
            <a:ext cx="434340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182334"/>
                </a:solidFill>
                <a:latin typeface="Aptos"/>
              </a:rPr>
              <a:t>• Descobre e executa testes.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182334"/>
                </a:solidFill>
                <a:latin typeface="Aptos"/>
              </a:rPr>
              <a:t>• Mostra falhas, erros e testes aprovados.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182334"/>
                </a:solidFill>
                <a:latin typeface="Aptos"/>
              </a:rPr>
              <a:t>• Avalia as asserções.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257800" cy="3246120"/>
          </a:xfrm>
          <a:prstGeom prst="roundRect">
            <a:avLst/>
          </a:prstGeom>
          <a:solidFill>
            <a:srgbClr val="0C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2221992"/>
            <a:ext cx="3017520" cy="4114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900" b="1">
                <a:solidFill>
                  <a:srgbClr val="35CDDE"/>
                </a:solidFill>
                <a:latin typeface="Aptos"/>
              </a:rPr>
              <a:t>coverage.py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907792"/>
            <a:ext cx="434340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DCE7F4"/>
                </a:solidFill>
                <a:latin typeface="Aptos"/>
              </a:rPr>
              <a:t>• Observa a execução durante os testes.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DCE7F4"/>
                </a:solidFill>
                <a:latin typeface="Aptos"/>
              </a:rPr>
              <a:t>• Mede linhas e caminhos percorridos.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DCE7F4"/>
                </a:solidFill>
                <a:latin typeface="Aptos"/>
              </a:rPr>
              <a:t>• Gera relatórios textual e HTML.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5532120"/>
            <a:ext cx="5760720" cy="32918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700" b="1">
                <a:solidFill>
                  <a:srgbClr val="0C192E"/>
                </a:solidFill>
                <a:latin typeface="Consolas"/>
              </a:rPr>
              <a:t>coverage run --branch -m pytest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2374CC"/>
                </a:solidFill>
                <a:latin typeface="Aptos"/>
              </a:rPr>
              <a:t>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46888"/>
            <a:ext cx="54864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100" b="1">
                <a:solidFill>
                  <a:srgbClr val="5A6C82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900" b="0">
                <a:solidFill>
                  <a:srgbClr val="5A6C82"/>
                </a:solidFill>
                <a:latin typeface="Aptos"/>
              </a:rPr>
              <a:t>PC III · Tema 8 · Gabriel Martins Nunes &amp; Rafaela Garcia Bernardes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900" b="1">
                <a:solidFill>
                  <a:srgbClr val="0C192E"/>
                </a:solidFill>
                <a:latin typeface="Aptos"/>
              </a:rPr>
              <a:t>Statement × Branch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80160"/>
            <a:ext cx="10789920" cy="32918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5A6C82"/>
                </a:solidFill>
                <a:latin typeface="Aptos"/>
              </a:rPr>
              <a:t>Executar uma linha não é o mesmo que percorrer todas as decisões.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108960" cy="333756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256032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800" b="1">
                <a:solidFill>
                  <a:srgbClr val="0C192E"/>
                </a:solidFill>
                <a:latin typeface="Consolas"/>
              </a:rPr>
              <a:t>if idade &gt;= 18: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256032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700" b="0">
                <a:solidFill>
                  <a:srgbClr val="182334"/>
                </a:solidFill>
                <a:latin typeface="Consolas"/>
              </a:rPr>
              <a:t>    return "adulto"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256032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800" b="1">
                <a:solidFill>
                  <a:srgbClr val="0C192E"/>
                </a:solidFill>
                <a:latin typeface="Consolas"/>
              </a:rPr>
              <a:t>else: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256032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700" b="0">
                <a:solidFill>
                  <a:srgbClr val="182334"/>
                </a:solidFill>
                <a:latin typeface="Consolas"/>
              </a:rPr>
              <a:t>    return "menor"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828800"/>
            <a:ext cx="3337560" cy="3337560"/>
          </a:xfrm>
          <a:prstGeom prst="roundRect">
            <a:avLst/>
          </a:prstGeom>
          <a:solidFill>
            <a:srgbClr val="E4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258568"/>
            <a:ext cx="260604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1">
                <a:solidFill>
                  <a:srgbClr val="38D39F"/>
                </a:solidFill>
                <a:latin typeface="Aptos"/>
              </a:rPr>
              <a:t>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944368"/>
            <a:ext cx="2514600" cy="594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000" b="1">
                <a:solidFill>
                  <a:srgbClr val="0C192E"/>
                </a:solidFill>
                <a:latin typeface="Aptos"/>
              </a:rPr>
              <a:t>As instruções foram
executadas?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005072"/>
            <a:ext cx="2514600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>
                <a:solidFill>
                  <a:srgbClr val="5A6C82"/>
                </a:solidFill>
                <a:latin typeface="Aptos"/>
              </a:rPr>
              <a:t>idade = 20 executa
apenas o retorno adulto.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828800"/>
            <a:ext cx="3337560" cy="3337560"/>
          </a:xfrm>
          <a:prstGeom prst="roundRect">
            <a:avLst/>
          </a:prstGeom>
          <a:solidFill>
            <a:srgbClr val="EBF1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258568"/>
            <a:ext cx="260604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1">
                <a:solidFill>
                  <a:srgbClr val="2374CC"/>
                </a:solidFill>
                <a:latin typeface="Aptos"/>
              </a:rPr>
              <a:t>BRANCH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44368"/>
            <a:ext cx="2514600" cy="594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000" b="1">
                <a:solidFill>
                  <a:srgbClr val="0C192E"/>
                </a:solidFill>
                <a:latin typeface="Aptos"/>
              </a:rPr>
              <a:t>Os dois caminhos
foram percorridos?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005072"/>
            <a:ext cx="2514600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>
                <a:solidFill>
                  <a:srgbClr val="5A6C82"/>
                </a:solidFill>
                <a:latin typeface="Aptos"/>
              </a:rPr>
              <a:t>Precisamos testar
idade = 20 e idade = 17.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2374CC"/>
                </a:solidFill>
                <a:latin typeface="Aptos"/>
              </a:rPr>
              <a:t>DEMONSTRAÇÃO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46888"/>
            <a:ext cx="54864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100" b="1">
                <a:solidFill>
                  <a:srgbClr val="5A6C82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900" b="0">
                <a:solidFill>
                  <a:srgbClr val="5A6C82"/>
                </a:solidFill>
                <a:latin typeface="Aptos"/>
              </a:rPr>
              <a:t>PC III · Tema 8 · Gabriel Martins Nunes &amp; Rafaela Garcia Bernardes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900" b="1">
                <a:solidFill>
                  <a:srgbClr val="0C192E"/>
                </a:solidFill>
                <a:latin typeface="Aptos"/>
              </a:rPr>
              <a:t>O experimento em quatro 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80160"/>
            <a:ext cx="10789920" cy="32918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5A6C82"/>
                </a:solidFill>
                <a:latin typeface="Aptos"/>
              </a:rPr>
              <a:t>Vamos usar uma regra pequena, com decisões suficientes para gerar evidências.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2331720" cy="201168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496312"/>
            <a:ext cx="457200" cy="457200"/>
          </a:xfrm>
          <a:prstGeom prst="roundRect">
            <a:avLst/>
          </a:prstGeom>
          <a:solidFill>
            <a:srgbClr val="237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457200" cy="1463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100" b="1">
                <a:solidFill>
                  <a:srgbClr val="0C192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182112"/>
            <a:ext cx="1828800" cy="3931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1">
                <a:solidFill>
                  <a:srgbClr val="0C192E"/>
                </a:solidFill>
                <a:latin typeface="Aptos"/>
              </a:rPr>
              <a:t>Teste VIP passa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675887"/>
            <a:ext cx="1847088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5A6C82"/>
                </a:solidFill>
                <a:latin typeface="Aptos"/>
              </a:rPr>
              <a:t>Cobertura inicial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3017520"/>
            <a:ext cx="32004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2200" b="1">
                <a:solidFill>
                  <a:srgbClr val="2374CC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240280"/>
            <a:ext cx="2331720" cy="201168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2496312"/>
            <a:ext cx="457200" cy="457200"/>
          </a:xfrm>
          <a:prstGeom prst="roundRect">
            <a:avLst/>
          </a:prstGeom>
          <a:solidFill>
            <a:srgbClr val="35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578608"/>
            <a:ext cx="457200" cy="1463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100" b="1">
                <a:solidFill>
                  <a:srgbClr val="0C192E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182112"/>
            <a:ext cx="1828800" cy="3931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1">
                <a:solidFill>
                  <a:srgbClr val="0C192E"/>
                </a:solidFill>
                <a:latin typeface="Aptos"/>
              </a:rPr>
              <a:t>Ler lacunas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675887"/>
            <a:ext cx="1847088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5A6C82"/>
                </a:solidFill>
                <a:latin typeface="Aptos"/>
              </a:rPr>
              <a:t>Linhas + branches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8152" y="3017520"/>
            <a:ext cx="32004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2200" b="1">
                <a:solidFill>
                  <a:srgbClr val="2374C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240280"/>
            <a:ext cx="2331720" cy="201168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2496312"/>
            <a:ext cx="457200" cy="457200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578608"/>
            <a:ext cx="457200" cy="1463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100" b="1">
                <a:solidFill>
                  <a:srgbClr val="0C192E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182112"/>
            <a:ext cx="1828800" cy="3931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1">
                <a:solidFill>
                  <a:srgbClr val="0C192E"/>
                </a:solidFill>
                <a:latin typeface="Aptos"/>
              </a:rPr>
              <a:t>Ampliar a suíte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675887"/>
            <a:ext cx="1847088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5A6C82"/>
                </a:solidFill>
                <a:latin typeface="Aptos"/>
              </a:rPr>
              <a:t>Limite + exceção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3017520"/>
            <a:ext cx="32004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2200" b="1">
                <a:solidFill>
                  <a:srgbClr val="2374CC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39" y="2240280"/>
            <a:ext cx="2331720" cy="201168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35439" y="2496312"/>
            <a:ext cx="457200" cy="457200"/>
          </a:xfrm>
          <a:prstGeom prst="roundRect">
            <a:avLst/>
          </a:prstGeom>
          <a:solidFill>
            <a:srgbClr val="F4B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39" y="2578608"/>
            <a:ext cx="457200" cy="1463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100" b="1">
                <a:solidFill>
                  <a:srgbClr val="0C192E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1" y="3182112"/>
            <a:ext cx="1828800" cy="3931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1">
                <a:solidFill>
                  <a:srgbClr val="0C192E"/>
                </a:solidFill>
                <a:latin typeface="Aptos"/>
              </a:rPr>
              <a:t>Questionar o 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1" y="3675887"/>
            <a:ext cx="1847088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5A6C82"/>
                </a:solidFill>
                <a:latin typeface="Aptos"/>
              </a:rPr>
              <a:t>Teste fraco com bug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2374CC"/>
                </a:solidFill>
                <a:latin typeface="Aptos"/>
              </a:rPr>
              <a:t>PRÁTICA · CENÁRIO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46888"/>
            <a:ext cx="54864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100" b="1">
                <a:solidFill>
                  <a:srgbClr val="5A6C82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900" b="0">
                <a:solidFill>
                  <a:srgbClr val="5A6C82"/>
                </a:solidFill>
                <a:latin typeface="Aptos"/>
              </a:rPr>
              <a:t>PC III · Tema 8 · Gabriel Martins Nunes &amp; Rafaela Garcia Bernardes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900" b="1">
                <a:solidFill>
                  <a:srgbClr val="0C192E"/>
                </a:solidFill>
                <a:latin typeface="Aptos"/>
              </a:rPr>
              <a:t>Um teste verde, três caminhos esquecidos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80160"/>
            <a:ext cx="10789920" cy="32918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5A6C82"/>
                </a:solidFill>
                <a:latin typeface="Aptos"/>
              </a:rPr>
              <a:t>Gabriel: execute o teste isolado e leia o relatório antes de ampliar a suíte.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3291840"/>
          </a:xfrm>
          <a:prstGeom prst="roundRect">
            <a:avLst/>
          </a:prstGeom>
          <a:solidFill>
            <a:srgbClr val="0C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4663440" cy="7315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onsolas"/>
              </a:rPr>
              <a:t>def test_cliente_vip():
    assert calcular_desconto(100, True) == 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407408"/>
            <a:ext cx="498348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1">
                <a:solidFill>
                  <a:srgbClr val="35CDDE"/>
                </a:solidFill>
                <a:latin typeface="Consolas"/>
              </a:rPr>
              <a:t>pytest roteiro_live/teste_inicial.py -v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28800"/>
            <a:ext cx="5166360" cy="329184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2194560"/>
            <a:ext cx="448056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900" b="1">
                <a:solidFill>
                  <a:srgbClr val="0C192E"/>
                </a:solidFill>
                <a:latin typeface="Aptos"/>
              </a:rPr>
              <a:t>O que ainda não foi exercitado?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80360"/>
            <a:ext cx="420624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182334"/>
                </a:solidFill>
                <a:latin typeface="Aptos"/>
              </a:rPr>
              <a:t>• valor negativo → exceção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82334"/>
                </a:solidFill>
                <a:latin typeface="Aptos"/>
              </a:rPr>
              <a:t>• cliente comum abaixo de R$ 500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82334"/>
                </a:solidFill>
                <a:latin typeface="Aptos"/>
              </a:rPr>
              <a:t>• cliente comum a partir de R$ 500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596128"/>
            <a:ext cx="1074420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400" b="1">
                <a:solidFill>
                  <a:srgbClr val="2374CC"/>
                </a:solidFill>
                <a:latin typeface="Consolas"/>
              </a:rPr>
              <a:t>coverage run --branch -m pytest roteiro_live/teste_inicial.py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2374CC"/>
                </a:solidFill>
                <a:latin typeface="Aptos"/>
              </a:rPr>
              <a:t>PRÁTICA · CENÁRIO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46888"/>
            <a:ext cx="54864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100" b="1">
                <a:solidFill>
                  <a:srgbClr val="5A6C82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900" b="0">
                <a:solidFill>
                  <a:srgbClr val="5A6C82"/>
                </a:solidFill>
                <a:latin typeface="Aptos"/>
              </a:rPr>
              <a:t>PC III · Tema 8 · Gabriel Martins Nunes &amp; Rafaela Garcia Bernardes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900" b="1">
                <a:solidFill>
                  <a:srgbClr val="0C192E"/>
                </a:solidFill>
                <a:latin typeface="Aptos"/>
              </a:rPr>
              <a:t>Novos testes cobrem as regras e os limites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80160"/>
            <a:ext cx="10789920" cy="32918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5A6C82"/>
                </a:solidFill>
                <a:latin typeface="Aptos"/>
              </a:rPr>
              <a:t>Rafaela: parametrização reduz repetição e deixa os cenários explícitos.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5760720" cy="361188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48256"/>
            <a:ext cx="5303520" cy="24231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400" b="0">
                <a:solidFill>
                  <a:srgbClr val="0C192E"/>
                </a:solidFill>
                <a:latin typeface="Consolas"/>
              </a:rPr>
              <a:t>@pytest.mark.parametrize(
    "valor, vip, esperado",
    [(100, True, 80), (100, False, 100),
     (500, False, 450), (1000, False, 900)]
)
def test_calcular_desconto(valor, vip, esperado):
    assert calcular_desconto(valor, vip) == esperado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4848" y="1783080"/>
            <a:ext cx="4736592" cy="3611880"/>
          </a:xfrm>
          <a:prstGeom prst="roundRect">
            <a:avLst/>
          </a:prstGeom>
          <a:solidFill>
            <a:srgbClr val="E4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176272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800" b="1">
                <a:solidFill>
                  <a:srgbClr val="0C192E"/>
                </a:solidFill>
                <a:latin typeface="Aptos"/>
              </a:rPr>
              <a:t>Além dos valores normais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761488"/>
            <a:ext cx="3383280" cy="594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200" b="1">
                <a:solidFill>
                  <a:srgbClr val="38D39F"/>
                </a:solidFill>
                <a:latin typeface="Aptos"/>
              </a:rPr>
              <a:t>Teste a fronteira
R$ 500,00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886200"/>
            <a:ext cx="3794760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>
                <a:solidFill>
                  <a:srgbClr val="182334"/>
                </a:solidFill>
                <a:latin typeface="Aptos"/>
              </a:rPr>
              <a:t>e o caminho excepcional:
valor negativo gera ValueError.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96712"/>
            <a:ext cx="10332720" cy="25603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400" b="1">
                <a:solidFill>
                  <a:srgbClr val="2374CC"/>
                </a:solidFill>
                <a:latin typeface="Consolas"/>
              </a:rPr>
              <a:t>coverage erase  →  coverage run --branch -m pytest  →  coverage 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2374CC"/>
                </a:solidFill>
                <a:latin typeface="Aptos"/>
              </a:rPr>
              <a:t>RELATÓRIO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46888"/>
            <a:ext cx="54864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100" b="1">
                <a:solidFill>
                  <a:srgbClr val="5A6C82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900" b="0">
                <a:solidFill>
                  <a:srgbClr val="5A6C82"/>
                </a:solidFill>
                <a:latin typeface="Aptos"/>
              </a:rPr>
              <a:t>PC III · Tema 8 · Gabriel Martins Nunes &amp; Rafaela Garcia Bernardes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900" b="1">
                <a:solidFill>
                  <a:srgbClr val="0C192E"/>
                </a:solidFill>
                <a:latin typeface="Aptos"/>
              </a:rPr>
              <a:t>Como ler o coverage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80160"/>
            <a:ext cx="10789920" cy="32918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5A6C82"/>
                </a:solidFill>
                <a:latin typeface="Aptos"/>
              </a:rPr>
              <a:t>Mostre o relatório real gerado no terminal e depois abra htmlcov/index.html.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48840"/>
            <a:ext cx="1938528" cy="224028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468880"/>
            <a:ext cx="160020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700" b="1">
                <a:solidFill>
                  <a:srgbClr val="2374CC"/>
                </a:solidFill>
                <a:latin typeface="Aptos"/>
              </a:rPr>
              <a:t>Stmts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36392"/>
            <a:ext cx="1554480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500" b="0">
                <a:solidFill>
                  <a:srgbClr val="182334"/>
                </a:solidFill>
                <a:latin typeface="Aptos"/>
              </a:rPr>
              <a:t>instruções
consideradas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148840"/>
            <a:ext cx="1938528" cy="224028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468880"/>
            <a:ext cx="160020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700" b="1">
                <a:solidFill>
                  <a:srgbClr val="2374CC"/>
                </a:solidFill>
                <a:latin typeface="Aptos"/>
              </a:rPr>
              <a:t>Miss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136392"/>
            <a:ext cx="1554480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500" b="0">
                <a:solidFill>
                  <a:srgbClr val="182334"/>
                </a:solidFill>
                <a:latin typeface="Aptos"/>
              </a:rPr>
              <a:t>linhas não
executadas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2148840"/>
            <a:ext cx="1938528" cy="224028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468880"/>
            <a:ext cx="160020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700" b="1">
                <a:solidFill>
                  <a:srgbClr val="2374CC"/>
                </a:solidFill>
                <a:latin typeface="Aptos"/>
              </a:rPr>
              <a:t>Branch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136392"/>
            <a:ext cx="1554480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500" b="0">
                <a:solidFill>
                  <a:srgbClr val="182334"/>
                </a:solidFill>
                <a:latin typeface="Aptos"/>
              </a:rPr>
              <a:t>caminhos de
decisão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148840"/>
            <a:ext cx="1938528" cy="224028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2" y="2468880"/>
            <a:ext cx="160020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700" b="1">
                <a:solidFill>
                  <a:srgbClr val="2374CC"/>
                </a:solidFill>
                <a:latin typeface="Aptos"/>
              </a:rPr>
              <a:t>BrPart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136392"/>
            <a:ext cx="1554480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500" b="0">
                <a:solidFill>
                  <a:srgbClr val="182334"/>
                </a:solidFill>
                <a:latin typeface="Aptos"/>
              </a:rPr>
              <a:t>caminhos
parciais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2148840"/>
            <a:ext cx="1938528" cy="224028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02952" y="2468880"/>
            <a:ext cx="160020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700" b="1">
                <a:solidFill>
                  <a:srgbClr val="2374CC"/>
                </a:solidFill>
                <a:latin typeface="Aptos"/>
              </a:rPr>
              <a:t>Cover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3136392"/>
            <a:ext cx="1554480" cy="5029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500" b="0">
                <a:solidFill>
                  <a:srgbClr val="182334"/>
                </a:solidFill>
                <a:latin typeface="Aptos"/>
              </a:rPr>
              <a:t>percentual
calculado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700" b="1">
                <a:solidFill>
                  <a:srgbClr val="0C192E"/>
                </a:solidFill>
                <a:latin typeface="Aptos"/>
              </a:rPr>
              <a:t>A maior evidência não é o número: é conseguir apontar, no HTML, qual linha ou caminho ainda falta testar.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2374CC"/>
                </a:solidFill>
                <a:latin typeface="Aptos"/>
              </a:rPr>
              <a:t>LIMITAÇÃO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46888"/>
            <a:ext cx="54864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100" b="1">
                <a:solidFill>
                  <a:srgbClr val="5A6C82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900" b="0">
                <a:solidFill>
                  <a:srgbClr val="5A6C82"/>
                </a:solidFill>
                <a:latin typeface="Aptos"/>
              </a:rPr>
              <a:t>PC III · Tema 8 · Gabriel Martins Nunes &amp; Rafaela Garcia Bernardes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900" b="1">
                <a:solidFill>
                  <a:srgbClr val="0C192E"/>
                </a:solidFill>
                <a:latin typeface="Aptos"/>
              </a:rPr>
              <a:t>100% de coverage ≠ ausência de bugs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80160"/>
            <a:ext cx="10789920" cy="32918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5A6C82"/>
                </a:solidFill>
                <a:latin typeface="Aptos"/>
              </a:rPr>
              <a:t>Cobertura mede execução; asserções corretas medem comportamento.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303520" cy="3337560"/>
          </a:xfrm>
          <a:prstGeom prst="roundRect">
            <a:avLst/>
          </a:prstGeom>
          <a:solidFill>
            <a:srgbClr val="FF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12848"/>
            <a:ext cx="237744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>
                <a:solidFill>
                  <a:srgbClr val="EA5757"/>
                </a:solidFill>
                <a:latin typeface="Aptos"/>
              </a:rPr>
              <a:t>REGRA COM BUG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61488"/>
            <a:ext cx="4160520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400" b="1">
                <a:solidFill>
                  <a:srgbClr val="0C192E"/>
                </a:solidFill>
                <a:latin typeface="Aptos"/>
              </a:rPr>
              <a:t>Cliente VIP recebe
15% de desconto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384048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>
                <a:solidFill>
                  <a:srgbClr val="5A6C82"/>
                </a:solidFill>
                <a:latin typeface="Aptos"/>
              </a:rPr>
              <a:t>A regra esperada era 20%.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828800"/>
            <a:ext cx="5166360" cy="3337560"/>
          </a:xfrm>
          <a:prstGeom prst="round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212848"/>
            <a:ext cx="237744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>
                <a:solidFill>
                  <a:srgbClr val="F4B439"/>
                </a:solidFill>
                <a:latin typeface="Aptos"/>
              </a:rPr>
              <a:t>TESTE FRACO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880360"/>
            <a:ext cx="43434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>
                <a:solidFill>
                  <a:srgbClr val="0C192E"/>
                </a:solidFill>
                <a:latin typeface="Consolas"/>
              </a:rPr>
              <a:t>assert desconto_vip_com_bug(100) &gt;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794760"/>
            <a:ext cx="4251960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>
                <a:solidFill>
                  <a:srgbClr val="182334"/>
                </a:solidFill>
                <a:latin typeface="Aptos"/>
              </a:rPr>
              <a:t>Ele passa e pode executar todas as linhas,
mas nunca verifica o resultado correto: 80.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577840"/>
            <a:ext cx="10149840" cy="2743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600" b="1">
                <a:solidFill>
                  <a:srgbClr val="EA5757"/>
                </a:solidFill>
                <a:latin typeface="Aptos"/>
              </a:rPr>
              <a:t>Cobertura alta + testes fracos = falsa sensação de segurança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000" b="1">
                <a:solidFill>
                  <a:srgbClr val="2374CC"/>
                </a:solidFill>
                <a:latin typeface="Aptos"/>
              </a:rP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46888"/>
            <a:ext cx="548640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100" b="1">
                <a:solidFill>
                  <a:srgbClr val="5A6C82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900" b="0">
                <a:solidFill>
                  <a:srgbClr val="5A6C82"/>
                </a:solidFill>
                <a:latin typeface="Aptos"/>
              </a:rPr>
              <a:t>PC III · Tema 8 · Gabriel Martins Nunes &amp; Rafaela Garcia Bernardes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900" b="1">
                <a:solidFill>
                  <a:srgbClr val="0C192E"/>
                </a:solidFill>
                <a:latin typeface="Aptos"/>
              </a:rPr>
              <a:t>A métrica é uma bússola, não o destino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1280160"/>
            <a:ext cx="10789920" cy="32918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>
                <a:solidFill>
                  <a:srgbClr val="5A6C82"/>
                </a:solidFill>
                <a:latin typeface="Aptos"/>
              </a:rPr>
              <a:t>O que levamos para o próximo projeto?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74519"/>
            <a:ext cx="512064" cy="512064"/>
          </a:xfrm>
          <a:prstGeom prst="roundRect">
            <a:avLst/>
          </a:prstGeom>
          <a:solidFill>
            <a:srgbClr val="237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512064" cy="1645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>
                <a:solidFill>
                  <a:srgbClr val="0C192E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947672"/>
            <a:ext cx="7955279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900" b="1">
                <a:solidFill>
                  <a:srgbClr val="0C192E"/>
                </a:solidFill>
                <a:latin typeface="Aptos"/>
              </a:rPr>
              <a:t>Use coverage para enxergar lacunas.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880360"/>
            <a:ext cx="512064" cy="512064"/>
          </a:xfrm>
          <a:prstGeom prst="roundRect">
            <a:avLst/>
          </a:prstGeom>
          <a:solidFill>
            <a:srgbClr val="35C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90088"/>
            <a:ext cx="512064" cy="1645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>
                <a:solidFill>
                  <a:srgbClr val="0C192E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953512"/>
            <a:ext cx="7955279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900" b="1">
                <a:solidFill>
                  <a:srgbClr val="0C192E"/>
                </a:solidFill>
                <a:latin typeface="Aptos"/>
              </a:rPr>
              <a:t>Prefira branch coverage ao analisar decisões.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86200"/>
            <a:ext cx="512064" cy="512064"/>
          </a:xfrm>
          <a:prstGeom prst="roundRect">
            <a:avLst/>
          </a:prstGeom>
          <a:solidFill>
            <a:srgbClr val="38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95928"/>
            <a:ext cx="512064" cy="164592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>
                <a:solidFill>
                  <a:srgbClr val="0C192E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959352"/>
            <a:ext cx="7955279" cy="3200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900" b="1">
                <a:solidFill>
                  <a:srgbClr val="0C192E"/>
                </a:solidFill>
                <a:latin typeface="Aptos"/>
              </a:rPr>
              <a:t>Projete boas asserções e casos de fronteira.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74920"/>
            <a:ext cx="10332720" cy="640080"/>
          </a:xfrm>
          <a:prstGeom prst="roundRect">
            <a:avLst/>
          </a:prstGeom>
          <a:solidFill>
            <a:srgbClr val="0C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248656"/>
            <a:ext cx="987552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Coverage mostra quanto foi exercitado. A qualidade dos testes mostra se aquilo foi verificado de forma significativa.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989320"/>
            <a:ext cx="10058400" cy="2286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000" b="0">
                <a:solidFill>
                  <a:srgbClr val="5A6C82"/>
                </a:solidFill>
                <a:latin typeface="Aptos"/>
              </a:rPr>
              <a:t>Referências: coverage.readthedocs.io · docs.pytest.org · pytest-cov.readthedocs.io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